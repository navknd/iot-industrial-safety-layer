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</p:sldIdLst>
  <p:sldSz cx="6858000" cy="5143500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430" y="77"/>
      </p:cViewPr>
      <p:guideLst>
        <p:guide orient="horz" pos="2880"/>
        <p:guide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1594486"/>
            <a:ext cx="5829300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A300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2880361"/>
            <a:ext cx="48006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ts val="716"/>
              </a:lnSpc>
            </a:pPr>
            <a:fld id="{81D60167-4931-47E6-BA6A-407CBD079E47}" type="slidenum">
              <a:rPr lang="en-IN" spc="-19" smtClean="0"/>
              <a:pPr marL="28575">
                <a:lnSpc>
                  <a:spcPts val="716"/>
                </a:lnSpc>
              </a:pPr>
              <a:t>‹#›</a:t>
            </a:fld>
            <a:endParaRPr lang="en-IN" spc="-19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936" y="112267"/>
            <a:ext cx="5823585" cy="323165"/>
          </a:xfrm>
        </p:spPr>
        <p:txBody>
          <a:bodyPr lIns="0" tIns="0" rIns="0" bIns="0"/>
          <a:lstStyle>
            <a:lvl1pPr>
              <a:defRPr sz="2100" b="1" i="0">
                <a:solidFill>
                  <a:srgbClr val="A300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788" y="1336295"/>
            <a:ext cx="3723799" cy="138499"/>
          </a:xfrm>
        </p:spPr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ts val="716"/>
              </a:lnSpc>
            </a:pPr>
            <a:fld id="{81D60167-4931-47E6-BA6A-407CBD079E47}" type="slidenum">
              <a:rPr lang="en-IN" spc="-19" smtClean="0"/>
              <a:pPr marL="28575">
                <a:lnSpc>
                  <a:spcPts val="716"/>
                </a:lnSpc>
              </a:pPr>
              <a:t>‹#›</a:t>
            </a:fld>
            <a:endParaRPr lang="en-IN" spc="-19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936" y="112267"/>
            <a:ext cx="5823585" cy="323165"/>
          </a:xfrm>
        </p:spPr>
        <p:txBody>
          <a:bodyPr lIns="0" tIns="0" rIns="0" bIns="0"/>
          <a:lstStyle>
            <a:lvl1pPr>
              <a:defRPr sz="2100" b="1" i="0">
                <a:solidFill>
                  <a:srgbClr val="A300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1183005"/>
            <a:ext cx="298323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1183005"/>
            <a:ext cx="298323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ts val="716"/>
              </a:lnSpc>
            </a:pPr>
            <a:fld id="{81D60167-4931-47E6-BA6A-407CBD079E47}" type="slidenum">
              <a:rPr lang="en-IN" spc="-19" smtClean="0"/>
              <a:pPr marL="28575">
                <a:lnSpc>
                  <a:spcPts val="716"/>
                </a:lnSpc>
              </a:pPr>
              <a:t>‹#›</a:t>
            </a:fld>
            <a:endParaRPr lang="en-IN" spc="-19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936" y="112267"/>
            <a:ext cx="5823585" cy="323165"/>
          </a:xfrm>
        </p:spPr>
        <p:txBody>
          <a:bodyPr lIns="0" tIns="0" rIns="0" bIns="0"/>
          <a:lstStyle>
            <a:lvl1pPr>
              <a:defRPr sz="2100" b="1" i="0">
                <a:solidFill>
                  <a:srgbClr val="A300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ts val="716"/>
              </a:lnSpc>
            </a:pPr>
            <a:fld id="{81D60167-4931-47E6-BA6A-407CBD079E47}" type="slidenum">
              <a:rPr lang="en-IN" spc="-19" smtClean="0"/>
              <a:pPr marL="28575">
                <a:lnSpc>
                  <a:spcPts val="716"/>
                </a:lnSpc>
              </a:pPr>
              <a:t>‹#›</a:t>
            </a:fld>
            <a:endParaRPr lang="en-IN" spc="-19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75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ts val="716"/>
              </a:lnSpc>
            </a:pPr>
            <a:fld id="{81D60167-4931-47E6-BA6A-407CBD079E47}" type="slidenum">
              <a:rPr lang="en-IN" spc="-19" smtClean="0"/>
              <a:pPr marL="28575">
                <a:lnSpc>
                  <a:spcPts val="716"/>
                </a:lnSpc>
              </a:pPr>
              <a:t>‹#›</a:t>
            </a:fld>
            <a:endParaRPr lang="en-IN" spc="-19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936" y="112267"/>
            <a:ext cx="582358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A3001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788" y="1336295"/>
            <a:ext cx="3723799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4783456"/>
            <a:ext cx="2194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4783456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203060" y="4851527"/>
            <a:ext cx="149066" cy="90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5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28575">
              <a:lnSpc>
                <a:spcPts val="716"/>
              </a:lnSpc>
            </a:pPr>
            <a:fld id="{81D60167-4931-47E6-BA6A-407CBD079E47}" type="slidenum">
              <a:rPr lang="en-IN" spc="-19" smtClean="0"/>
              <a:pPr marL="28575">
                <a:lnSpc>
                  <a:spcPts val="716"/>
                </a:lnSpc>
              </a:pPr>
              <a:t>‹#›</a:t>
            </a:fld>
            <a:endParaRPr lang="en-IN" spc="-19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873" y="750852"/>
            <a:ext cx="5844254" cy="6431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7916" y="1485900"/>
            <a:ext cx="345760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IN" sz="1500" dirty="0"/>
              <a:t>IoT-Ready Industrial Safety Layer</a:t>
            </a:r>
            <a:endParaRPr sz="1500" dirty="0"/>
          </a:p>
        </p:txBody>
      </p:sp>
      <p:sp>
        <p:nvSpPr>
          <p:cNvPr id="4" name="object 4"/>
          <p:cNvSpPr txBox="1"/>
          <p:nvPr/>
        </p:nvSpPr>
        <p:spPr>
          <a:xfrm>
            <a:off x="2308955" y="1931194"/>
            <a:ext cx="2335530" cy="99754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b="1" dirty="0">
                <a:latin typeface="Times New Roman"/>
                <a:cs typeface="Times New Roman"/>
              </a:rPr>
              <a:t>CYB23IN301</a:t>
            </a:r>
            <a:r>
              <a:rPr sz="1500" b="1" spc="-7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Internship</a:t>
            </a:r>
            <a:r>
              <a:rPr sz="1500" b="1" spc="-6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-</a:t>
            </a:r>
            <a:r>
              <a:rPr sz="1500" b="1" spc="-19" dirty="0">
                <a:latin typeface="Times New Roman"/>
                <a:cs typeface="Times New Roman"/>
              </a:rPr>
              <a:t>III</a:t>
            </a:r>
            <a:endParaRPr sz="1500" dirty="0">
              <a:latin typeface="Times New Roman"/>
              <a:cs typeface="Times New Roman"/>
            </a:endParaRPr>
          </a:p>
          <a:p>
            <a:pPr>
              <a:spcBef>
                <a:spcPts val="510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594360" marR="713899">
              <a:lnSpc>
                <a:spcPts val="1793"/>
              </a:lnSpc>
            </a:pPr>
            <a:r>
              <a:rPr sz="1500" b="1" spc="-8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1500" b="1" spc="-6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00" b="1" spc="-8" dirty="0">
                <a:solidFill>
                  <a:srgbClr val="FF0000"/>
                </a:solidFill>
                <a:latin typeface="Times New Roman"/>
                <a:cs typeface="Times New Roman"/>
              </a:rPr>
              <a:t>Review Date:</a:t>
            </a:r>
            <a:r>
              <a:rPr sz="1200" b="1" spc="-8" dirty="0">
                <a:solidFill>
                  <a:srgbClr val="FF0000"/>
                </a:solidFill>
                <a:latin typeface="Times New Roman"/>
                <a:cs typeface="Times New Roman"/>
              </a:rPr>
              <a:t>16/12/2</a:t>
            </a:r>
            <a:r>
              <a:rPr lang="en-IN" sz="1200" b="1" spc="-8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689" y="2974943"/>
            <a:ext cx="1156335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0478">
              <a:spcBef>
                <a:spcPts val="75"/>
              </a:spcBef>
            </a:pPr>
            <a:r>
              <a:rPr sz="1350" b="1" spc="-23" dirty="0">
                <a:solidFill>
                  <a:srgbClr val="843A0C"/>
                </a:solidFill>
                <a:latin typeface="Times New Roman"/>
                <a:cs typeface="Times New Roman"/>
              </a:rPr>
              <a:t>Team</a:t>
            </a:r>
            <a:r>
              <a:rPr sz="1350" b="1" spc="-60" dirty="0">
                <a:solidFill>
                  <a:srgbClr val="843A0C"/>
                </a:solidFill>
                <a:latin typeface="Times New Roman"/>
                <a:cs typeface="Times New Roman"/>
              </a:rPr>
              <a:t> </a:t>
            </a:r>
            <a:r>
              <a:rPr sz="1350" b="1" spc="-8" dirty="0">
                <a:solidFill>
                  <a:srgbClr val="843A0C"/>
                </a:solidFill>
                <a:latin typeface="Times New Roman"/>
                <a:cs typeface="Times New Roman"/>
              </a:rPr>
              <a:t>Members</a:t>
            </a:r>
            <a:endParaRPr sz="1350" dirty="0">
              <a:latin typeface="Times New Roman"/>
              <a:cs typeface="Times New Roman"/>
            </a:endParaRPr>
          </a:p>
          <a:p>
            <a:pPr marL="9525"/>
            <a:r>
              <a:rPr sz="1350" dirty="0">
                <a:latin typeface="Times New Roman"/>
                <a:cs typeface="Times New Roman"/>
              </a:rPr>
              <a:t>Navadeep</a:t>
            </a:r>
            <a:r>
              <a:rPr sz="1350" spc="-38" dirty="0">
                <a:latin typeface="Times New Roman"/>
                <a:cs typeface="Times New Roman"/>
              </a:rPr>
              <a:t> </a:t>
            </a:r>
            <a:r>
              <a:rPr sz="1350" spc="-19" dirty="0">
                <a:latin typeface="Times New Roman"/>
                <a:cs typeface="Times New Roman"/>
              </a:rPr>
              <a:t>KM</a:t>
            </a:r>
            <a:endParaRPr lang="en-IN" sz="1350" spc="-19" dirty="0">
              <a:latin typeface="Times New Roman"/>
              <a:cs typeface="Times New Roman"/>
            </a:endParaRPr>
          </a:p>
          <a:p>
            <a:pPr marL="9525"/>
            <a:r>
              <a:rPr lang="en-IN" sz="1350" dirty="0">
                <a:latin typeface="Times New Roman"/>
                <a:cs typeface="Times New Roman"/>
              </a:rPr>
              <a:t>E0223022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66272" y="2974943"/>
            <a:ext cx="1824039" cy="6585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843A0C"/>
                </a:solidFill>
                <a:latin typeface="Times New Roman"/>
                <a:cs typeface="Times New Roman"/>
              </a:rPr>
              <a:t>Project</a:t>
            </a:r>
            <a:r>
              <a:rPr sz="1350" b="1" spc="-68" dirty="0">
                <a:solidFill>
                  <a:srgbClr val="843A0C"/>
                </a:solidFill>
                <a:latin typeface="Times New Roman"/>
                <a:cs typeface="Times New Roman"/>
              </a:rPr>
              <a:t> </a:t>
            </a:r>
            <a:r>
              <a:rPr sz="1350" b="1" spc="-15" dirty="0">
                <a:solidFill>
                  <a:srgbClr val="843A0C"/>
                </a:solidFill>
                <a:latin typeface="Times New Roman"/>
                <a:cs typeface="Times New Roman"/>
              </a:rPr>
              <a:t>Guide</a:t>
            </a:r>
            <a:endParaRPr lang="en-IN" sz="1350" b="1" spc="-15" dirty="0">
              <a:solidFill>
                <a:srgbClr val="843A0C"/>
              </a:solidFill>
              <a:latin typeface="Times New Roman"/>
              <a:cs typeface="Times New Roman"/>
            </a:endParaRPr>
          </a:p>
          <a:p>
            <a:pPr marL="9525">
              <a:spcBef>
                <a:spcPts val="75"/>
              </a:spcBef>
            </a:pPr>
            <a:r>
              <a:rPr lang="en-IN" sz="1350" spc="-15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Assistant Professor</a:t>
            </a:r>
          </a:p>
          <a:p>
            <a:pPr marL="9525">
              <a:spcBef>
                <a:spcPts val="75"/>
              </a:spcBef>
            </a:pPr>
            <a:r>
              <a:rPr lang="en-IN" sz="1350" dirty="0">
                <a:latin typeface="Times New Roman"/>
                <a:cs typeface="Times New Roman"/>
              </a:rPr>
              <a:t>Mr. S Manoj </a:t>
            </a:r>
            <a:r>
              <a:rPr lang="en-IN" sz="1350" dirty="0" err="1">
                <a:latin typeface="Times New Roman"/>
                <a:cs typeface="Times New Roman"/>
              </a:rPr>
              <a:t>Kumanran</a:t>
            </a:r>
            <a:endParaRPr sz="13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8690" y="543720"/>
            <a:ext cx="183784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spc="-8" dirty="0">
                <a:solidFill>
                  <a:srgbClr val="C00000"/>
                </a:solidFill>
              </a:rPr>
              <a:t>INTRODUCTION</a:t>
            </a:r>
            <a:endParaRPr sz="1800" dirty="0"/>
          </a:p>
        </p:txBody>
      </p:sp>
      <p:sp>
        <p:nvSpPr>
          <p:cNvPr id="3" name="object 3"/>
          <p:cNvSpPr txBox="1"/>
          <p:nvPr/>
        </p:nvSpPr>
        <p:spPr>
          <a:xfrm>
            <a:off x="529971" y="1018784"/>
            <a:ext cx="2697862" cy="2558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Need</a:t>
            </a:r>
            <a:r>
              <a:rPr sz="1600" b="1" spc="-4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sz="1600" b="1" spc="-56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60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600" b="1" spc="-8" dirty="0">
                <a:solidFill>
                  <a:srgbClr val="C00000"/>
                </a:solidFill>
                <a:latin typeface="Times New Roman"/>
                <a:cs typeface="Times New Roman"/>
              </a:rPr>
              <a:t>technology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1249986"/>
            <a:ext cx="4503896" cy="2746810"/>
          </a:xfrm>
          <a:prstGeom prst="rect">
            <a:avLst/>
          </a:prstGeom>
        </p:spPr>
        <p:txBody>
          <a:bodyPr vert="horz" wrap="square" lIns="0" tIns="52864" rIns="0" bIns="0" rtlCol="0">
            <a:spAutoFit/>
          </a:bodyPr>
          <a:lstStyle/>
          <a:p>
            <a:pPr marL="353378" indent="-171450">
              <a:spcBef>
                <a:spcPts val="416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-8" dirty="0">
                <a:latin typeface="Times New Roman"/>
                <a:cs typeface="Times New Roman"/>
              </a:rPr>
              <a:t> environments</a:t>
            </a:r>
            <a:r>
              <a:rPr sz="1100" spc="-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involve</a:t>
            </a:r>
            <a:r>
              <a:rPr sz="1100" spc="-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hazardous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gases,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-11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temperatures,</a:t>
            </a:r>
            <a:r>
              <a:rPr sz="1100" spc="-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heavy</a:t>
            </a:r>
            <a:r>
              <a:rPr sz="1100" spc="-11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machinery</a:t>
            </a:r>
            <a:endParaRPr lang="en-US" sz="1100" dirty="0">
              <a:latin typeface="Times New Roman"/>
              <a:cs typeface="Times New Roman"/>
            </a:endParaRPr>
          </a:p>
          <a:p>
            <a:pPr marL="353378" indent="-171450">
              <a:spcBef>
                <a:spcPts val="341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lang="en-US" sz="1100" dirty="0">
                <a:latin typeface="Times New Roman"/>
                <a:cs typeface="Times New Roman"/>
              </a:rPr>
              <a:t>Manual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monitoring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is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slow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and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prone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to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human</a:t>
            </a:r>
            <a:r>
              <a:rPr lang="en-US" sz="1100" spc="-15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error</a:t>
            </a:r>
            <a:endParaRPr lang="en-US" sz="1100" dirty="0">
              <a:latin typeface="Times New Roman"/>
              <a:cs typeface="Times New Roman"/>
            </a:endParaRPr>
          </a:p>
          <a:p>
            <a:pPr marL="353378" indent="-171450">
              <a:spcBef>
                <a:spcPts val="334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lang="en-US" sz="1100" spc="-8" dirty="0">
                <a:latin typeface="Times New Roman"/>
                <a:cs typeface="Times New Roman"/>
              </a:rPr>
              <a:t>Accidents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often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occur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due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to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delayed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hazard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detection</a:t>
            </a:r>
            <a:endParaRPr lang="en-US" sz="1100" dirty="0">
              <a:latin typeface="Times New Roman"/>
              <a:cs typeface="Times New Roman"/>
            </a:endParaRPr>
          </a:p>
          <a:p>
            <a:pPr marL="353378" indent="-171450">
              <a:spcBef>
                <a:spcPts val="344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lang="en-US" sz="1100" dirty="0">
                <a:latin typeface="Times New Roman"/>
                <a:cs typeface="Times New Roman"/>
              </a:rPr>
              <a:t>IoT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enables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real-</a:t>
            </a:r>
            <a:r>
              <a:rPr lang="en-US" sz="1100" dirty="0">
                <a:latin typeface="Times New Roman"/>
                <a:cs typeface="Times New Roman"/>
              </a:rPr>
              <a:t>time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monitoring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and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faster</a:t>
            </a:r>
            <a:r>
              <a:rPr lang="en-US" sz="1100" spc="-30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response</a:t>
            </a:r>
            <a:endParaRPr lang="en-US" sz="1100" dirty="0">
              <a:latin typeface="Times New Roman"/>
              <a:cs typeface="Times New Roman"/>
            </a:endParaRPr>
          </a:p>
          <a:p>
            <a:pPr marL="353378" indent="-171450">
              <a:spcBef>
                <a:spcPts val="341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lang="en-US" sz="1100" dirty="0">
                <a:latin typeface="Times New Roman"/>
                <a:cs typeface="Times New Roman"/>
              </a:rPr>
              <a:t>Centralized</a:t>
            </a:r>
            <a:r>
              <a:rPr lang="en-US" sz="1100" spc="-4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monitoring</a:t>
            </a:r>
            <a:r>
              <a:rPr lang="en-US" sz="1100" spc="-4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improves</a:t>
            </a:r>
            <a:r>
              <a:rPr lang="en-US" sz="1100" spc="-53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operational</a:t>
            </a:r>
            <a:r>
              <a:rPr lang="en-US" sz="1100" spc="-45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safety</a:t>
            </a:r>
            <a:endParaRPr lang="en-US" sz="1100" dirty="0">
              <a:latin typeface="Times New Roman"/>
              <a:cs typeface="Times New Roman"/>
            </a:endParaRPr>
          </a:p>
          <a:p>
            <a:pPr marL="9525">
              <a:spcBef>
                <a:spcPts val="251"/>
              </a:spcBef>
            </a:pPr>
            <a:r>
              <a:rPr lang="en-IN" sz="1600" b="1" spc="-8" dirty="0">
                <a:solidFill>
                  <a:srgbClr val="C00000"/>
                </a:solidFill>
                <a:latin typeface="Times New Roman"/>
                <a:cs typeface="Times New Roman"/>
              </a:rPr>
              <a:t>    </a:t>
            </a:r>
            <a:r>
              <a:rPr sz="1600" b="1" spc="-8" dirty="0">
                <a:solidFill>
                  <a:srgbClr val="C00000"/>
                </a:solidFill>
                <a:latin typeface="Times New Roman"/>
                <a:cs typeface="Times New Roman"/>
              </a:rPr>
              <a:t>Applications</a:t>
            </a:r>
            <a:endParaRPr sz="1600" dirty="0">
              <a:latin typeface="Times New Roman"/>
              <a:cs typeface="Times New Roman"/>
            </a:endParaRPr>
          </a:p>
          <a:p>
            <a:pPr marL="353378" indent="-171450">
              <a:lnSpc>
                <a:spcPct val="150000"/>
              </a:lnSpc>
              <a:spcBef>
                <a:spcPts val="19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-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plants and</a:t>
            </a:r>
            <a:r>
              <a:rPr sz="1100" spc="-8" dirty="0">
                <a:latin typeface="Times New Roman"/>
                <a:cs typeface="Times New Roman"/>
              </a:rPr>
              <a:t> manufacturing units</a:t>
            </a:r>
            <a:endParaRPr sz="1100" dirty="0">
              <a:latin typeface="Times New Roman"/>
              <a:cs typeface="Times New Roman"/>
            </a:endParaRPr>
          </a:p>
          <a:p>
            <a:pPr marL="353378" indent="-171450">
              <a:lnSpc>
                <a:spcPct val="150000"/>
              </a:lnSpc>
              <a:spcBef>
                <a:spcPts val="19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sz="1100" dirty="0">
                <a:latin typeface="Times New Roman"/>
                <a:cs typeface="Times New Roman"/>
              </a:rPr>
              <a:t>Chemical</a:t>
            </a:r>
            <a:r>
              <a:rPr sz="1100" spc="-3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processing</a:t>
            </a:r>
            <a:r>
              <a:rPr sz="1100" spc="-38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industries</a:t>
            </a:r>
            <a:endParaRPr sz="1100" dirty="0">
              <a:latin typeface="Times New Roman"/>
              <a:cs typeface="Times New Roman"/>
            </a:endParaRPr>
          </a:p>
          <a:p>
            <a:pPr marL="353378" indent="-171450">
              <a:lnSpc>
                <a:spcPct val="150000"/>
              </a:lnSpc>
              <a:spcBef>
                <a:spcPts val="19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sz="1100" dirty="0">
                <a:latin typeface="Times New Roman"/>
                <a:cs typeface="Times New Roman"/>
              </a:rPr>
              <a:t>Oil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refineries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gas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pipelines</a:t>
            </a:r>
            <a:endParaRPr sz="1100" dirty="0">
              <a:latin typeface="Times New Roman"/>
              <a:cs typeface="Times New Roman"/>
            </a:endParaRPr>
          </a:p>
          <a:p>
            <a:pPr marL="353378" indent="-171450">
              <a:lnSpc>
                <a:spcPct val="150000"/>
              </a:lnSpc>
              <a:spcBef>
                <a:spcPts val="19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sz="1100" dirty="0">
                <a:latin typeface="Times New Roman"/>
                <a:cs typeface="Times New Roman"/>
              </a:rPr>
              <a:t>Smart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safety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systems</a:t>
            </a:r>
            <a:endParaRPr sz="1100" dirty="0">
              <a:latin typeface="Times New Roman"/>
              <a:cs typeface="Times New Roman"/>
            </a:endParaRPr>
          </a:p>
          <a:p>
            <a:pPr marL="353378" indent="-171450">
              <a:lnSpc>
                <a:spcPct val="150000"/>
              </a:lnSpc>
              <a:spcBef>
                <a:spcPts val="15"/>
              </a:spcBef>
              <a:buFont typeface="Courier New" panose="02070309020205020404" pitchFamily="49" charset="0"/>
              <a:buChar char="o"/>
              <a:tabLst>
                <a:tab pos="353378" algn="l"/>
              </a:tabLst>
            </a:pPr>
            <a:r>
              <a:rPr sz="1100" dirty="0">
                <a:latin typeface="Times New Roman"/>
                <a:cs typeface="Times New Roman"/>
              </a:rPr>
              <a:t>Hazardous</a:t>
            </a:r>
            <a:r>
              <a:rPr sz="1100" spc="-4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material</a:t>
            </a:r>
            <a:r>
              <a:rPr sz="1100" spc="-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storage</a:t>
            </a:r>
            <a:r>
              <a:rPr sz="1100" spc="-38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facilities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EB984AA-4BC8-B62F-361A-1D8672693D92}"/>
              </a:ext>
            </a:extLst>
          </p:cNvPr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6D57AA6-CC4C-84D9-57BE-141C26AF70E5}"/>
              </a:ext>
            </a:extLst>
          </p:cNvPr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4806406-2548-4445-C975-B9C53CDC992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2</a:t>
            </a:r>
            <a:endParaRPr spc="-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258" y="1135769"/>
            <a:ext cx="2583942" cy="2558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600" dirty="0">
                <a:solidFill>
                  <a:srgbClr val="C00000"/>
                </a:solidFill>
              </a:rPr>
              <a:t>Challenges</a:t>
            </a:r>
            <a:r>
              <a:rPr sz="1600" spc="-45" dirty="0">
                <a:solidFill>
                  <a:srgbClr val="C00000"/>
                </a:solidFill>
              </a:rPr>
              <a:t> </a:t>
            </a:r>
            <a:r>
              <a:rPr sz="1600" dirty="0">
                <a:solidFill>
                  <a:srgbClr val="C00000"/>
                </a:solidFill>
              </a:rPr>
              <a:t>to</a:t>
            </a:r>
            <a:r>
              <a:rPr sz="1600" spc="-45" dirty="0">
                <a:solidFill>
                  <a:srgbClr val="C00000"/>
                </a:solidFill>
              </a:rPr>
              <a:t> </a:t>
            </a:r>
            <a:r>
              <a:rPr sz="1600" dirty="0">
                <a:solidFill>
                  <a:srgbClr val="C00000"/>
                </a:solidFill>
              </a:rPr>
              <a:t>be</a:t>
            </a:r>
            <a:r>
              <a:rPr sz="1600" spc="-34" dirty="0">
                <a:solidFill>
                  <a:srgbClr val="C00000"/>
                </a:solidFill>
              </a:rPr>
              <a:t> </a:t>
            </a:r>
            <a:r>
              <a:rPr sz="1600" spc="-8" dirty="0">
                <a:solidFill>
                  <a:srgbClr val="C00000"/>
                </a:solidFill>
              </a:rPr>
              <a:t>addressed</a:t>
            </a:r>
            <a:endParaRPr sz="1600" dirty="0"/>
          </a:p>
        </p:txBody>
      </p:sp>
      <p:sp>
        <p:nvSpPr>
          <p:cNvPr id="3" name="object 3"/>
          <p:cNvSpPr txBox="1"/>
          <p:nvPr/>
        </p:nvSpPr>
        <p:spPr>
          <a:xfrm>
            <a:off x="540258" y="1391608"/>
            <a:ext cx="3726942" cy="24564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0975" lvl="8" indent="-171450">
              <a:spcBef>
                <a:spcPts val="75"/>
              </a:spcBef>
              <a:buFont typeface="Courier New" panose="02070309020205020404" pitchFamily="49" charset="0"/>
              <a:buChar char="o"/>
              <a:tabLst>
                <a:tab pos="180499" algn="l"/>
              </a:tabLst>
            </a:pPr>
            <a:r>
              <a:rPr lang="en-IN" sz="1100" dirty="0">
                <a:latin typeface="Times New Roman"/>
                <a:cs typeface="Times New Roman"/>
              </a:rPr>
              <a:t>Handling</a:t>
            </a:r>
            <a:r>
              <a:rPr lang="en-IN" sz="1100" spc="-26" dirty="0">
                <a:latin typeface="Times New Roman"/>
                <a:cs typeface="Times New Roman"/>
              </a:rPr>
              <a:t> </a:t>
            </a:r>
            <a:r>
              <a:rPr lang="en-IN" sz="1100" spc="-8" dirty="0">
                <a:latin typeface="Times New Roman"/>
                <a:cs typeface="Times New Roman"/>
              </a:rPr>
              <a:t>real-</a:t>
            </a:r>
            <a:r>
              <a:rPr lang="en-IN" sz="1100" dirty="0">
                <a:latin typeface="Times New Roman"/>
                <a:cs typeface="Times New Roman"/>
              </a:rPr>
              <a:t>time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data</a:t>
            </a:r>
            <a:r>
              <a:rPr lang="en-IN" sz="1100" spc="-26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from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multiple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spc="-8" dirty="0">
                <a:latin typeface="Times New Roman"/>
                <a:cs typeface="Times New Roman"/>
              </a:rPr>
              <a:t>sensors</a:t>
            </a:r>
            <a:endParaRPr lang="en-IN" sz="1100" dirty="0">
              <a:latin typeface="Times New Roman"/>
              <a:cs typeface="Times New Roman"/>
            </a:endParaRPr>
          </a:p>
          <a:p>
            <a:pPr marL="180975" lvl="8" indent="-171450">
              <a:spcBef>
                <a:spcPts val="19"/>
              </a:spcBef>
              <a:buFont typeface="Courier New" panose="02070309020205020404" pitchFamily="49" charset="0"/>
              <a:buChar char="o"/>
              <a:tabLst>
                <a:tab pos="180499" algn="l"/>
              </a:tabLst>
            </a:pPr>
            <a:r>
              <a:rPr lang="en-IN" sz="1100" dirty="0">
                <a:latin typeface="Times New Roman"/>
                <a:cs typeface="Times New Roman"/>
              </a:rPr>
              <a:t>Filtering</a:t>
            </a:r>
            <a:r>
              <a:rPr lang="en-IN" sz="1100" spc="-19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noisy</a:t>
            </a:r>
            <a:r>
              <a:rPr lang="en-IN" sz="1100" spc="-19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or</a:t>
            </a:r>
            <a:r>
              <a:rPr lang="en-IN" sz="1100" spc="-19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faulty</a:t>
            </a:r>
            <a:r>
              <a:rPr lang="en-IN" sz="1100" spc="-19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sensor</a:t>
            </a:r>
            <a:r>
              <a:rPr lang="en-IN" sz="1100" spc="-19" dirty="0">
                <a:latin typeface="Times New Roman"/>
                <a:cs typeface="Times New Roman"/>
              </a:rPr>
              <a:t> </a:t>
            </a:r>
            <a:r>
              <a:rPr lang="en-IN" sz="1100" spc="-8" dirty="0">
                <a:latin typeface="Times New Roman"/>
                <a:cs typeface="Times New Roman"/>
              </a:rPr>
              <a:t>readings</a:t>
            </a:r>
            <a:endParaRPr lang="en-IN" sz="1100" dirty="0">
              <a:latin typeface="Times New Roman"/>
              <a:cs typeface="Times New Roman"/>
            </a:endParaRPr>
          </a:p>
          <a:p>
            <a:pPr marL="180975" lvl="8" indent="-171450">
              <a:spcBef>
                <a:spcPts val="15"/>
              </a:spcBef>
              <a:buFont typeface="Courier New" panose="02070309020205020404" pitchFamily="49" charset="0"/>
              <a:buChar char="o"/>
              <a:tabLst>
                <a:tab pos="180499" algn="l"/>
              </a:tabLst>
            </a:pPr>
            <a:r>
              <a:rPr lang="en-IN" sz="1100" dirty="0">
                <a:latin typeface="Times New Roman"/>
                <a:cs typeface="Times New Roman"/>
              </a:rPr>
              <a:t>Avoiding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false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alerts</a:t>
            </a:r>
            <a:r>
              <a:rPr lang="en-IN" sz="1100" spc="-26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while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ensuring</a:t>
            </a:r>
            <a:r>
              <a:rPr lang="en-IN" sz="1100" spc="-19" dirty="0">
                <a:latin typeface="Times New Roman"/>
                <a:cs typeface="Times New Roman"/>
              </a:rPr>
              <a:t> </a:t>
            </a:r>
            <a:r>
              <a:rPr lang="en-IN" sz="1100" spc="-8" dirty="0">
                <a:latin typeface="Times New Roman"/>
                <a:cs typeface="Times New Roman"/>
              </a:rPr>
              <a:t>safety</a:t>
            </a:r>
            <a:endParaRPr lang="en-IN" sz="1100" dirty="0">
              <a:latin typeface="Times New Roman"/>
              <a:cs typeface="Times New Roman"/>
            </a:endParaRPr>
          </a:p>
          <a:p>
            <a:pPr marL="180975" lvl="8" indent="-171450">
              <a:spcBef>
                <a:spcPts val="23"/>
              </a:spcBef>
              <a:buFont typeface="Courier New" panose="02070309020205020404" pitchFamily="49" charset="0"/>
              <a:buChar char="o"/>
              <a:tabLst>
                <a:tab pos="180499" algn="l"/>
              </a:tabLst>
            </a:pPr>
            <a:r>
              <a:rPr lang="en-IN" sz="1100" dirty="0">
                <a:latin typeface="Times New Roman"/>
                <a:cs typeface="Times New Roman"/>
              </a:rPr>
              <a:t>Designing</a:t>
            </a:r>
            <a:r>
              <a:rPr lang="en-IN" sz="1100" spc="-26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a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scalable</a:t>
            </a:r>
            <a:r>
              <a:rPr lang="en-IN" sz="1100" spc="-26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backend</a:t>
            </a:r>
            <a:r>
              <a:rPr lang="en-IN" sz="1100" spc="-23" dirty="0">
                <a:latin typeface="Times New Roman"/>
                <a:cs typeface="Times New Roman"/>
              </a:rPr>
              <a:t> </a:t>
            </a:r>
            <a:r>
              <a:rPr lang="en-IN" sz="1100" spc="-8" dirty="0">
                <a:latin typeface="Times New Roman"/>
                <a:cs typeface="Times New Roman"/>
              </a:rPr>
              <a:t>system</a:t>
            </a:r>
            <a:endParaRPr lang="en-IN" sz="1100" dirty="0">
              <a:latin typeface="Times New Roman"/>
              <a:cs typeface="Times New Roman"/>
            </a:endParaRPr>
          </a:p>
          <a:p>
            <a:pPr marL="180975" lvl="8" indent="-171450">
              <a:spcBef>
                <a:spcPts val="19"/>
              </a:spcBef>
              <a:buFont typeface="Courier New" panose="02070309020205020404" pitchFamily="49" charset="0"/>
              <a:buChar char="o"/>
              <a:tabLst>
                <a:tab pos="180499" algn="l"/>
              </a:tabLst>
            </a:pPr>
            <a:r>
              <a:rPr lang="en-IN" sz="1100" dirty="0">
                <a:latin typeface="Times New Roman"/>
                <a:cs typeface="Times New Roman"/>
              </a:rPr>
              <a:t>Ensuring</a:t>
            </a:r>
            <a:r>
              <a:rPr lang="en-IN" sz="1100" spc="-34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system</a:t>
            </a:r>
            <a:r>
              <a:rPr lang="en-IN" sz="1100" spc="-34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reliability</a:t>
            </a:r>
            <a:r>
              <a:rPr lang="en-IN" sz="1100" spc="-30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in</a:t>
            </a:r>
            <a:r>
              <a:rPr lang="en-IN" sz="1100" spc="-34" dirty="0">
                <a:latin typeface="Times New Roman"/>
                <a:cs typeface="Times New Roman"/>
              </a:rPr>
              <a:t> </a:t>
            </a:r>
            <a:r>
              <a:rPr lang="en-IN" sz="1100" dirty="0">
                <a:latin typeface="Times New Roman"/>
                <a:cs typeface="Times New Roman"/>
              </a:rPr>
              <a:t>critical</a:t>
            </a:r>
            <a:r>
              <a:rPr lang="en-IN" sz="1100" spc="-30" dirty="0">
                <a:latin typeface="Times New Roman"/>
                <a:cs typeface="Times New Roman"/>
              </a:rPr>
              <a:t> </a:t>
            </a:r>
            <a:r>
              <a:rPr lang="en-IN" sz="1100" spc="-8" dirty="0">
                <a:latin typeface="Times New Roman"/>
                <a:cs typeface="Times New Roman"/>
              </a:rPr>
              <a:t>conditions</a:t>
            </a:r>
          </a:p>
          <a:p>
            <a:pPr marL="180499" lvl="2" indent="-170974">
              <a:spcBef>
                <a:spcPts val="19"/>
              </a:spcBef>
              <a:buFont typeface="Symbol"/>
              <a:buChar char=""/>
              <a:tabLst>
                <a:tab pos="180499" algn="l"/>
              </a:tabLst>
            </a:pPr>
            <a:endParaRPr lang="en-IN" sz="900" spc="-8" dirty="0">
              <a:latin typeface="Times New Roman"/>
              <a:cs typeface="Times New Roman"/>
            </a:endParaRPr>
          </a:p>
          <a:p>
            <a:pPr marL="10478">
              <a:spcBef>
                <a:spcPts val="255"/>
              </a:spcBef>
            </a:pPr>
            <a:r>
              <a:rPr lang="en-US"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Motivation</a:t>
            </a:r>
            <a:r>
              <a:rPr lang="en-US" sz="1600" b="1" spc="-6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behind</a:t>
            </a:r>
            <a:r>
              <a:rPr lang="en-US" sz="1600" b="1" spc="-56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600" b="1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lang="en-US" sz="1600" b="1" spc="-49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16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study</a:t>
            </a:r>
          </a:p>
          <a:p>
            <a:pPr marL="181928" indent="-171450">
              <a:spcBef>
                <a:spcPts val="255"/>
              </a:spcBef>
              <a:buFont typeface="Courier New" panose="02070309020205020404" pitchFamily="49" charset="0"/>
              <a:buChar char="o"/>
            </a:pPr>
            <a:r>
              <a:rPr lang="en-US" sz="1100" dirty="0">
                <a:latin typeface="Times New Roman"/>
                <a:cs typeface="Times New Roman"/>
              </a:rPr>
              <a:t>Increasing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number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of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industrial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accidents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worldwide</a:t>
            </a:r>
            <a:endParaRPr lang="en-US" sz="1100" dirty="0">
              <a:latin typeface="Times New Roman"/>
              <a:cs typeface="Times New Roman"/>
            </a:endParaRPr>
          </a:p>
          <a:p>
            <a:pPr marL="181928" indent="-171450">
              <a:spcBef>
                <a:spcPts val="255"/>
              </a:spcBef>
              <a:buFont typeface="Courier New" panose="02070309020205020404" pitchFamily="49" charset="0"/>
              <a:buChar char="o"/>
            </a:pPr>
            <a:r>
              <a:rPr lang="en-US" sz="1100" spc="-8" dirty="0">
                <a:latin typeface="Times New Roman"/>
                <a:cs typeface="Times New Roman"/>
              </a:rPr>
              <a:t>Inefficiency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of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manual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inspection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systems</a:t>
            </a:r>
          </a:p>
          <a:p>
            <a:pPr marL="181928" indent="-171450">
              <a:spcBef>
                <a:spcPts val="255"/>
              </a:spcBef>
              <a:buFont typeface="Courier New" panose="02070309020205020404" pitchFamily="49" charset="0"/>
              <a:buChar char="o"/>
            </a:pPr>
            <a:r>
              <a:rPr lang="en-US" sz="1100" dirty="0">
                <a:latin typeface="Times New Roman"/>
                <a:cs typeface="Times New Roman"/>
              </a:rPr>
              <a:t>Need</a:t>
            </a:r>
            <a:r>
              <a:rPr lang="en-US" sz="1100" spc="-26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for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automated,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real-</a:t>
            </a:r>
            <a:r>
              <a:rPr lang="en-US" sz="1100" dirty="0">
                <a:latin typeface="Times New Roman"/>
                <a:cs typeface="Times New Roman"/>
              </a:rPr>
              <a:t>time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hazard</a:t>
            </a:r>
            <a:r>
              <a:rPr lang="en-US" sz="1100" spc="-23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detection</a:t>
            </a:r>
          </a:p>
          <a:p>
            <a:pPr marL="181928" indent="-171450">
              <a:spcBef>
                <a:spcPts val="255"/>
              </a:spcBef>
              <a:buFont typeface="Courier New" panose="02070309020205020404" pitchFamily="49" charset="0"/>
              <a:buChar char="o"/>
            </a:pPr>
            <a:r>
              <a:rPr lang="en-US" sz="1100" dirty="0">
                <a:latin typeface="Times New Roman"/>
                <a:cs typeface="Times New Roman"/>
              </a:rPr>
              <a:t>Requirement</a:t>
            </a:r>
            <a:r>
              <a:rPr lang="en-US" sz="1100" spc="-34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for</a:t>
            </a:r>
            <a:r>
              <a:rPr lang="en-US" sz="1100" spc="-34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scalable</a:t>
            </a:r>
            <a:r>
              <a:rPr lang="en-US" sz="1100" spc="-30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safety</a:t>
            </a:r>
            <a:r>
              <a:rPr lang="en-US" sz="1100" spc="-34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infrastructure</a:t>
            </a:r>
          </a:p>
          <a:p>
            <a:pPr marL="181928" indent="-171450">
              <a:spcBef>
                <a:spcPts val="255"/>
              </a:spcBef>
              <a:buFont typeface="Courier New" panose="02070309020205020404" pitchFamily="49" charset="0"/>
              <a:buChar char="o"/>
            </a:pPr>
            <a:r>
              <a:rPr lang="en-US" sz="1100" dirty="0">
                <a:latin typeface="Times New Roman"/>
                <a:cs typeface="Times New Roman"/>
              </a:rPr>
              <a:t>Growing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adoption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of</a:t>
            </a:r>
            <a:r>
              <a:rPr lang="en-US" sz="1100" spc="-11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IoT</a:t>
            </a:r>
            <a:r>
              <a:rPr lang="en-US" sz="1100" spc="-15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in</a:t>
            </a:r>
            <a:r>
              <a:rPr lang="en-US" sz="1100" spc="-19" dirty="0">
                <a:latin typeface="Times New Roman"/>
                <a:cs typeface="Times New Roman"/>
              </a:rPr>
              <a:t> </a:t>
            </a:r>
            <a:r>
              <a:rPr lang="en-US" sz="1100" dirty="0">
                <a:latin typeface="Times New Roman"/>
                <a:cs typeface="Times New Roman"/>
              </a:rPr>
              <a:t>industrial</a:t>
            </a:r>
            <a:r>
              <a:rPr lang="en-US" sz="1100" spc="-15" dirty="0">
                <a:latin typeface="Times New Roman"/>
                <a:cs typeface="Times New Roman"/>
              </a:rPr>
              <a:t> </a:t>
            </a:r>
            <a:r>
              <a:rPr lang="en-US" sz="1100" spc="-8" dirty="0">
                <a:latin typeface="Times New Roman"/>
                <a:cs typeface="Times New Roman"/>
              </a:rPr>
              <a:t>environments</a:t>
            </a:r>
            <a:endParaRPr lang="en-US" sz="1100" dirty="0">
              <a:latin typeface="Times New Roman"/>
              <a:cs typeface="Times New Roman"/>
            </a:endParaRPr>
          </a:p>
          <a:p>
            <a:pPr marL="9525">
              <a:spcBef>
                <a:spcPts val="19"/>
              </a:spcBef>
              <a:tabLst>
                <a:tab pos="180499" algn="l"/>
              </a:tabLst>
            </a:pP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F288EE8-392D-21D0-F477-E32F2EC37C31}"/>
              </a:ext>
            </a:extLst>
          </p:cNvPr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DFED8DB-8BC9-130B-3FE7-70C1E7744E59}"/>
              </a:ext>
            </a:extLst>
          </p:cNvPr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2E7C60-41BB-64EC-B0D3-9A370B011AB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3</a:t>
            </a:r>
            <a:endParaRPr spc="-19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D2955-C410-7BAB-3264-8A094C6DACD4}"/>
              </a:ext>
            </a:extLst>
          </p:cNvPr>
          <p:cNvSpPr txBox="1"/>
          <p:nvPr/>
        </p:nvSpPr>
        <p:spPr>
          <a:xfrm>
            <a:off x="1316380" y="514350"/>
            <a:ext cx="3402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800" b="1" spc="-8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INTRODUCTION(continuation)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16465"/>
              </p:ext>
            </p:extLst>
          </p:nvPr>
        </p:nvGraphicFramePr>
        <p:xfrm>
          <a:off x="341328" y="666750"/>
          <a:ext cx="6172200" cy="3337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9602">
                <a:tc>
                  <a:txBody>
                    <a:bodyPr/>
                    <a:lstStyle/>
                    <a:p>
                      <a:pPr marL="106045" marR="88265" indent="-635" algn="ctr">
                        <a:lnSpc>
                          <a:spcPct val="99300"/>
                        </a:lnSpc>
                        <a:spcBef>
                          <a:spcPts val="350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Year (chronological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order)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333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8445" marR="240029" indent="635" algn="ctr">
                        <a:lnSpc>
                          <a:spcPts val="1190"/>
                        </a:lnSpc>
                        <a:spcBef>
                          <a:spcPts val="39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Methodology/ Materials</a:t>
                      </a:r>
                      <a:r>
                        <a:rPr sz="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Methods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Datasets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Results/Outcome</a:t>
                      </a: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017905" marR="230504" indent="-796290">
                        <a:lnSpc>
                          <a:spcPts val="1190"/>
                        </a:lnSpc>
                        <a:spcBef>
                          <a:spcPts val="39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Advantage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findings</a:t>
                      </a:r>
                      <a:r>
                        <a:rPr sz="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23189" marR="107314" algn="ctr">
                        <a:lnSpc>
                          <a:spcPts val="1190"/>
                        </a:lnSpc>
                        <a:spcBef>
                          <a:spcPts val="39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Disadvantage/</a:t>
                      </a:r>
                      <a:r>
                        <a:rPr sz="8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714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0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Kumar et al., 2020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IoT-based industrial safety monitoring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Rule-based threshold detection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Early detection of hazardous conditions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Lacks scalable backend pipeline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Kumar et al., 2020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5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Boyes et al., 2020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Safety &amp; security in Industrial IoT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 and threat analysis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Identified IIoT safety risks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real-time alert implementation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Boyes et al., 2020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Minerva et al., 2020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IoT reference architectures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Layered system design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Standardized IoT architecture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validation or alert layer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Minerva et al., 2020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 et al., 2021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Digital twins for industrial safety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Predictive monitoring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Improved safety prediction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deployment complexity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Lee et al., 2021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90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Kumar &amp; Singh, 2021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IoT alert generation systems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Rule-based alert logic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Accurate threshold alerts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rules, no adaptability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Kumar &amp; Singh, 2021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5551" y="241978"/>
            <a:ext cx="3363754" cy="28613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800" spc="-15" dirty="0"/>
              <a:t>REVIEW</a:t>
            </a:r>
            <a:r>
              <a:rPr sz="1800" spc="-101" dirty="0"/>
              <a:t> </a:t>
            </a:r>
            <a:r>
              <a:rPr sz="1800" spc="-23" dirty="0"/>
              <a:t>OF</a:t>
            </a:r>
            <a:r>
              <a:rPr sz="1800" spc="-113" dirty="0"/>
              <a:t> </a:t>
            </a:r>
            <a:r>
              <a:rPr sz="1800" spc="-8" dirty="0"/>
              <a:t>LITERATURE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F896EE4-9862-D37D-7731-DBB5A7BEF0B8}"/>
              </a:ext>
            </a:extLst>
          </p:cNvPr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5A15E06-3F71-C565-0476-1C894B297665}"/>
              </a:ext>
            </a:extLst>
          </p:cNvPr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B12F753-ACBD-FFD3-E915-6F05F8F368B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4</a:t>
            </a:r>
            <a:endParaRPr spc="-1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9049" y="242490"/>
            <a:ext cx="288750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spc="-15" dirty="0"/>
              <a:t>REVIEW</a:t>
            </a:r>
            <a:r>
              <a:rPr sz="1800" spc="-83" dirty="0"/>
              <a:t> </a:t>
            </a:r>
            <a:r>
              <a:rPr sz="1800" dirty="0"/>
              <a:t>OF</a:t>
            </a:r>
            <a:r>
              <a:rPr sz="1800" spc="-101" dirty="0"/>
              <a:t> </a:t>
            </a:r>
            <a:r>
              <a:rPr sz="1800" spc="-8" dirty="0"/>
              <a:t>LITERATURE</a:t>
            </a:r>
            <a:endParaRPr sz="18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970493"/>
              </p:ext>
            </p:extLst>
          </p:nvPr>
        </p:nvGraphicFramePr>
        <p:xfrm>
          <a:off x="228601" y="586868"/>
          <a:ext cx="6248400" cy="35791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18693">
                <a:tc>
                  <a:txBody>
                    <a:bodyPr/>
                    <a:lstStyle/>
                    <a:p>
                      <a:pPr marL="106045" marR="88265" indent="-635" algn="ctr">
                        <a:lnSpc>
                          <a:spcPct val="99300"/>
                        </a:lnSpc>
                        <a:spcBef>
                          <a:spcPts val="340"/>
                        </a:spcBef>
                      </a:pPr>
                      <a:r>
                        <a:rPr sz="800" b="1" dirty="0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Year (chronological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order)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2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8445" marR="240029" indent="635" algn="ctr">
                        <a:lnSpc>
                          <a:spcPct val="99500"/>
                        </a:lnSpc>
                        <a:spcBef>
                          <a:spcPts val="34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Methodology/ Materials</a:t>
                      </a:r>
                      <a:r>
                        <a:rPr sz="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Methods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2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Datasets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Results/Outcome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017905" marR="230504" indent="-7962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Advantage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findings</a:t>
                      </a:r>
                      <a:r>
                        <a:rPr sz="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143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23189" marR="107314" algn="ctr">
                        <a:lnSpc>
                          <a:spcPct val="99500"/>
                        </a:lnSpc>
                        <a:spcBef>
                          <a:spcPts val="34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Disadvantage/</a:t>
                      </a:r>
                      <a:r>
                        <a:rPr sz="8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32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Chen et al., 2022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 computing for IoT safety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Edge-based data processing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Reduced latency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Limited analytics capability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Chen et al., 2022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Sharma et al., 2022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Cloud-based IIoT platforms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Centralized cloud monitoring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Scalable monitoring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Internet dependency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Sharma et al., 2022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10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Patel et al., 2023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IoT safety frameworks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Edge–cloud integration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Improved reliability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Increased system complexity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Patel et al., 2023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10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Verma et al., 2023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ML-based anomaly detection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Machine learning models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Adaptive hazard detection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computation cost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Verma et al., 2023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Rao et al., 2024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Scalable IoT safety pipelines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Microservices architecture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Efficient multi-sensor handling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Limited real-world validation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Rao et al., 2024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AE27A32A-08EA-6C02-DA52-FA6E25AD41B4}"/>
              </a:ext>
            </a:extLst>
          </p:cNvPr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3EA0E6D-712C-137C-6339-4AF18EF44E33}"/>
              </a:ext>
            </a:extLst>
          </p:cNvPr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6112232-9794-BEB7-BDED-8168ECB5BD5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5</a:t>
            </a:r>
            <a:endParaRPr spc="-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731" y="148580"/>
            <a:ext cx="5201767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557338">
              <a:spcBef>
                <a:spcPts val="75"/>
              </a:spcBef>
            </a:pPr>
            <a:r>
              <a:rPr sz="1800" dirty="0"/>
              <a:t>REVIEW</a:t>
            </a:r>
            <a:r>
              <a:rPr sz="1800" spc="-113" dirty="0"/>
              <a:t> </a:t>
            </a:r>
            <a:r>
              <a:rPr sz="1800" dirty="0"/>
              <a:t>OF</a:t>
            </a:r>
            <a:r>
              <a:rPr sz="1800" spc="-113" dirty="0"/>
              <a:t> </a:t>
            </a:r>
            <a:r>
              <a:rPr sz="1800" dirty="0"/>
              <a:t>EXISTING</a:t>
            </a:r>
            <a:r>
              <a:rPr sz="1800" spc="-60" dirty="0"/>
              <a:t> </a:t>
            </a:r>
            <a:r>
              <a:rPr sz="1800" spc="-8" dirty="0"/>
              <a:t>SYSTEM</a:t>
            </a:r>
            <a:endParaRPr sz="18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686770"/>
              </p:ext>
            </p:extLst>
          </p:nvPr>
        </p:nvGraphicFramePr>
        <p:xfrm>
          <a:off x="76200" y="514350"/>
          <a:ext cx="6605109" cy="3688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7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1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5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6966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3670" marR="132715" indent="-635" algn="ctr">
                        <a:lnSpc>
                          <a:spcPct val="99300"/>
                        </a:lnSpc>
                        <a:spcBef>
                          <a:spcPts val="1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/Developer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Year (chronological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order)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14629" marR="193040" indent="-1905" algn="ctr">
                        <a:lnSpc>
                          <a:spcPct val="99500"/>
                        </a:lnSpc>
                        <a:spcBef>
                          <a:spcPts val="24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Methodology/ Materials</a:t>
                      </a:r>
                      <a:r>
                        <a:rPr sz="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Methods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Datasets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Results/Outcome</a:t>
                      </a: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017905" marR="230504" indent="-796290">
                        <a:lnSpc>
                          <a:spcPts val="1190"/>
                        </a:lnSpc>
                        <a:spcBef>
                          <a:spcPts val="28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Advantage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findings</a:t>
                      </a:r>
                      <a:r>
                        <a:rPr sz="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123189" marR="107314" algn="ctr">
                        <a:lnSpc>
                          <a:spcPct val="99500"/>
                        </a:lnSpc>
                        <a:spcBef>
                          <a:spcPts val="240"/>
                        </a:spcBef>
                      </a:pPr>
                      <a:r>
                        <a:rPr sz="800" b="1" spc="-10" dirty="0">
                          <a:latin typeface="Times New Roman"/>
                          <a:cs typeface="Times New Roman"/>
                        </a:rPr>
                        <a:t>Disadvantage/</a:t>
                      </a:r>
                      <a:r>
                        <a:rPr sz="8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800" b="1" spc="-20" dirty="0">
                          <a:latin typeface="Times New Roman"/>
                          <a:cs typeface="Times New Roman"/>
                        </a:rPr>
                        <a:t>work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 IoT dashboards (2020)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Basic IoT sensors + cloud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Remote monitoring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automated alerts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 IoT dashboards (2020)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Basic IoT sensors + cloud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Rule-based safety alarms (2021)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 logic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Simple &amp; fast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 rules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Rule-based safety alarms (2021)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 logic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2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Cloud-only safety systems (2021)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 / Azure IoT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Scalability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Latency issues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Cloud-only safety systems (2021)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 / Azure IoT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2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Edge-based safety systems (2022)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 computing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 latency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Limited analytics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Edge-based safety systems (2022)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 computing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2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IoT safety platforms (2023)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 + Cloud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Balanced performance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complexity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Hybrid IoT safety platforms (2023)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Edge + Cloud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8ED91B5B-E4B2-28B4-17D2-F5C51E0BE1F9}"/>
              </a:ext>
            </a:extLst>
          </p:cNvPr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E3ECBA-70CC-8163-E955-E5386A2741FA}"/>
              </a:ext>
            </a:extLst>
          </p:cNvPr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CA01B2A-3384-E9F1-8DCE-78705359EB7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spc="-19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7</a:t>
            </a:r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706" y="326683"/>
            <a:ext cx="5775818" cy="28613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77378" algn="l">
              <a:spcBef>
                <a:spcPts val="71"/>
              </a:spcBef>
            </a:pPr>
            <a:r>
              <a:rPr sz="1800" spc="-15" dirty="0"/>
              <a:t>PROBLEM</a:t>
            </a:r>
            <a:r>
              <a:rPr sz="1800" spc="-75" dirty="0"/>
              <a:t> </a:t>
            </a:r>
            <a:r>
              <a:rPr sz="1800" spc="-8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937" y="895350"/>
            <a:ext cx="6200014" cy="12007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just">
              <a:lnSpc>
                <a:spcPct val="144000"/>
              </a:lnSpc>
              <a:spcBef>
                <a:spcPts val="75"/>
              </a:spcBef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environments rely on multiple sensors to monitor safety-critical parameters such as gas concentration and temperature. However, existing systems lack a centralized and scalable mechanism to validate multi-sensor data and generate real-time safety alerts. This leads to delayed hazard detection and increased risk of industrial accidents. Hence, there is a need to design a reliable IoT-based safety data pipeline that supports real-time data ingestion, validation, and event-based alert generation.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8</a:t>
            </a:r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798" y="432609"/>
            <a:ext cx="1699260" cy="28613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800" spc="-8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41865" y="819150"/>
            <a:ext cx="5971126" cy="20178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algn="l">
              <a:spcBef>
                <a:spcPts val="75"/>
              </a:spcBef>
              <a:tabLst>
                <a:tab pos="639127" algn="l"/>
              </a:tabLst>
            </a:pPr>
            <a:r>
              <a:rPr sz="1400" b="1" spc="-8" dirty="0"/>
              <a:t>Objective</a:t>
            </a:r>
            <a:r>
              <a:rPr sz="1400" b="1" dirty="0"/>
              <a:t>-</a:t>
            </a:r>
            <a:r>
              <a:rPr sz="1400" b="1" spc="-26" dirty="0"/>
              <a:t> </a:t>
            </a:r>
            <a:r>
              <a:rPr sz="1400" b="1" spc="-38" dirty="0"/>
              <a:t>1</a:t>
            </a:r>
            <a:endParaRPr lang="en-IN" sz="1400" b="1" spc="-38" dirty="0"/>
          </a:p>
          <a:p>
            <a:pPr marL="481013" lvl="1" indent="-128588" algn="l">
              <a:spcBef>
                <a:spcPts val="75"/>
              </a:spcBef>
              <a:buFont typeface="Arial" panose="020B0604020202020204" pitchFamily="34" charset="0"/>
              <a:buChar char="•"/>
              <a:tabLst>
                <a:tab pos="639127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centralized IoT data pipeline capable of ingesting real-time data from multiple industrial sensors</a:t>
            </a:r>
            <a:r>
              <a:rPr lang="en-US" sz="1100" dirty="0"/>
              <a:t>.</a:t>
            </a:r>
            <a:endParaRPr lang="en-IN" sz="11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" algn="l">
              <a:spcBef>
                <a:spcPts val="915"/>
              </a:spcBef>
              <a:tabLst>
                <a:tab pos="639127" algn="l"/>
              </a:tabLst>
            </a:pPr>
            <a:r>
              <a:rPr lang="en-IN" sz="14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400" b="1" spc="-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481013" lvl="1" indent="-128588" algn="l">
              <a:spcBef>
                <a:spcPts val="915"/>
              </a:spcBef>
              <a:buFont typeface="Arial" panose="020B0604020202020204" pitchFamily="34" charset="0"/>
              <a:buChar char="•"/>
              <a:tabLst>
                <a:tab pos="639127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data validation and rule-based event detection mechanism for identifying unsafe industrial conditions</a:t>
            </a:r>
            <a:r>
              <a:rPr lang="en-US" sz="1100" dirty="0"/>
              <a:t>.</a:t>
            </a:r>
            <a:endParaRPr sz="11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" algn="l">
              <a:spcBef>
                <a:spcPts val="360"/>
              </a:spcBef>
              <a:tabLst>
                <a:tab pos="639127" algn="l"/>
              </a:tabLst>
            </a:pPr>
            <a:r>
              <a:rPr sz="14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400" b="1" spc="-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400" b="1" spc="-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1013" lvl="1" indent="-128588" algn="l">
              <a:spcBef>
                <a:spcPts val="360"/>
              </a:spcBef>
              <a:buFont typeface="Arial" panose="020B0604020202020204" pitchFamily="34" charset="0"/>
              <a:buChar char="•"/>
              <a:tabLst>
                <a:tab pos="639127" algn="l"/>
              </a:tabLst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real-time safety alerts and provide a scalable framework that supports future sensor and analytics integration.</a:t>
            </a:r>
            <a:endParaRPr sz="11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9</a:t>
            </a:r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632" y="209550"/>
            <a:ext cx="3080384" cy="28613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  <a:tabLst>
                <a:tab pos="1743551" algn="l"/>
              </a:tabLst>
            </a:pPr>
            <a:r>
              <a:rPr sz="1800" spc="-8" dirty="0"/>
              <a:t>WORKFLOWDIAGRAM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CEE24E56-230C-B425-0B2E-DF7DB47571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52600" y="1214168"/>
            <a:ext cx="3080384" cy="2839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8D1DD4-D501-5259-8CBC-53CE1293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549" y="541853"/>
            <a:ext cx="2876550" cy="36153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lang="en-IN" spc="-19" dirty="0"/>
              <a:t>10</a:t>
            </a:r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058" y="209550"/>
            <a:ext cx="4142518" cy="28613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542699" algn="l">
              <a:spcBef>
                <a:spcPts val="71"/>
              </a:spcBef>
            </a:pPr>
            <a:r>
              <a:rPr sz="1800" spc="-8" dirty="0"/>
              <a:t>MODULES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126660"/>
              </p:ext>
            </p:extLst>
          </p:nvPr>
        </p:nvGraphicFramePr>
        <p:xfrm>
          <a:off x="464037" y="771699"/>
          <a:ext cx="6004084" cy="2658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512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14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Modules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4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84505" marR="265430" indent="-111760">
                        <a:lnSpc>
                          <a:spcPts val="1430"/>
                        </a:lnSpc>
                        <a:spcBef>
                          <a:spcPts val="284"/>
                        </a:spcBef>
                      </a:pPr>
                      <a:r>
                        <a:rPr sz="900" b="1" spc="-20" dirty="0" err="1">
                          <a:latin typeface="Times New Roman"/>
                          <a:cs typeface="Times New Roman"/>
                        </a:rPr>
                        <a:t>Methodo</a:t>
                      </a:r>
                      <a:r>
                        <a:rPr lang="en-IN" sz="900" b="1" spc="-20" dirty="0">
                          <a:latin typeface="Times New Roman"/>
                          <a:cs typeface="Times New Roman"/>
                        </a:rPr>
                        <a:t>logy/ </a:t>
                      </a:r>
                      <a:r>
                        <a:rPr sz="900" b="1" spc="-10" dirty="0" err="1">
                          <a:latin typeface="Times New Roman"/>
                          <a:cs typeface="Times New Roman"/>
                        </a:rPr>
                        <a:t>Algori</a:t>
                      </a:r>
                      <a:r>
                        <a:rPr lang="en-IN" sz="900" b="1" spc="-10" dirty="0" err="1">
                          <a:latin typeface="Times New Roman"/>
                          <a:cs typeface="Times New Roman"/>
                        </a:rPr>
                        <a:t>th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m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14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314960" marR="280035" indent="90170">
                        <a:lnSpc>
                          <a:spcPts val="1430"/>
                        </a:lnSpc>
                        <a:spcBef>
                          <a:spcPts val="284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Techno</a:t>
                      </a:r>
                      <a:r>
                        <a:rPr lang="en-IN" sz="900" b="1" spc="-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900" b="1" spc="-10" dirty="0" err="1">
                          <a:latin typeface="Times New Roman"/>
                          <a:cs typeface="Times New Roman"/>
                        </a:rPr>
                        <a:t>ogies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 (H/W</a:t>
                      </a:r>
                      <a:r>
                        <a:rPr sz="9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S/W)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14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3028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143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Simulation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02870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Simulated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value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generation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Python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214629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Generates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temperature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gas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inputs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1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Ingestion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45339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REST-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ingestion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66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1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FastAPI,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Python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32004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Receives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APIs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66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499745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Threshold-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validation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Python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158750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Filters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invalid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abnormal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65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Rule-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logic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0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Python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396240">
                        <a:lnSpc>
                          <a:spcPts val="138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Generates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unsafe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61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2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1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Storage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1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Relational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storage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ts val="141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SQLite,</a:t>
                      </a:r>
                      <a:r>
                        <a:rPr sz="9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SQLAlchemy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marR="230504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Stores</a:t>
                      </a:r>
                      <a:r>
                        <a:rPr sz="9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9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logs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6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CYB23IN101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spc="-19" dirty="0"/>
              <a:t>1</a:t>
            </a:r>
            <a:r>
              <a:rPr lang="en-IN" spc="-19" dirty="0"/>
              <a:t>1</a:t>
            </a:r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467" y="209550"/>
            <a:ext cx="6248400" cy="286136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800" spc="-26" dirty="0"/>
              <a:t>TENTATIVE</a:t>
            </a:r>
            <a:r>
              <a:rPr sz="1800" spc="-83" dirty="0"/>
              <a:t> </a:t>
            </a:r>
            <a:r>
              <a:rPr sz="1800" spc="-30" dirty="0"/>
              <a:t>RESULTS/</a:t>
            </a:r>
            <a:r>
              <a:rPr sz="1800" spc="-86" dirty="0"/>
              <a:t> </a:t>
            </a:r>
            <a:r>
              <a:rPr sz="1800" spc="-26" dirty="0"/>
              <a:t>EXPECTED</a:t>
            </a:r>
            <a:r>
              <a:rPr sz="1800" spc="-86" dirty="0"/>
              <a:t> </a:t>
            </a:r>
            <a:r>
              <a:rPr sz="1800" spc="-8" dirty="0"/>
              <a:t>OUTCOME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349" y="742950"/>
            <a:ext cx="6594158" cy="2678201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marR="3810" indent="-171450" algn="just">
              <a:lnSpc>
                <a:spcPct val="142900"/>
              </a:lnSpc>
              <a:spcBef>
                <a:spcPts val="71"/>
              </a:spcBef>
              <a:buFont typeface="Symbol"/>
              <a:buChar char=""/>
              <a:tabLst>
                <a:tab pos="18097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successfully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ingest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centralized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backend </a:t>
            </a:r>
            <a:r>
              <a:rPr sz="1100" dirty="0">
                <a:latin typeface="Times New Roman"/>
                <a:cs typeface="Times New Roman"/>
              </a:rPr>
              <a:t>infrastructure.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readings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temperature</a:t>
            </a:r>
            <a:r>
              <a:rPr sz="1100" spc="4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gas</a:t>
            </a:r>
            <a:r>
              <a:rPr sz="1100" spc="5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concentration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4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5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5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</a:t>
            </a:r>
            <a:r>
              <a:rPr sz="1100" spc="49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before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-41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processing.</a:t>
            </a:r>
            <a:endParaRPr sz="1100" dirty="0">
              <a:latin typeface="Times New Roman"/>
              <a:cs typeface="Times New Roman"/>
            </a:endParaRPr>
          </a:p>
          <a:p>
            <a:pPr marL="180975" marR="5239" indent="-171450" algn="just">
              <a:lnSpc>
                <a:spcPct val="143300"/>
              </a:lnSpc>
              <a:spcBef>
                <a:spcPts val="83"/>
              </a:spcBef>
              <a:buFont typeface="Symbol"/>
              <a:buChar char=""/>
              <a:tabLst>
                <a:tab pos="18097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6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detect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unsafe</a:t>
            </a:r>
            <a:r>
              <a:rPr sz="1100" spc="5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continuously</a:t>
            </a:r>
            <a:r>
              <a:rPr sz="1100" spc="6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comparing</a:t>
            </a:r>
            <a:r>
              <a:rPr sz="1100" spc="6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6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against</a:t>
            </a:r>
            <a:r>
              <a:rPr sz="1100" spc="6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predefined</a:t>
            </a:r>
            <a:r>
              <a:rPr sz="1100" spc="64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safety </a:t>
            </a:r>
            <a:r>
              <a:rPr sz="1100" dirty="0">
                <a:latin typeface="Times New Roman"/>
                <a:cs typeface="Times New Roman"/>
              </a:rPr>
              <a:t>thresholds.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abnormal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1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identified,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real-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alerts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notify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operators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response, </a:t>
            </a:r>
            <a:r>
              <a:rPr sz="1100" dirty="0">
                <a:latin typeface="Times New Roman"/>
                <a:cs typeface="Times New Roman"/>
              </a:rPr>
              <a:t>thereby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accidents.</a:t>
            </a:r>
            <a:endParaRPr sz="1100" dirty="0">
              <a:latin typeface="Times New Roman"/>
              <a:cs typeface="Times New Roman"/>
            </a:endParaRPr>
          </a:p>
          <a:p>
            <a:pPr marL="180975" marR="5715" indent="-171450" algn="just">
              <a:lnSpc>
                <a:spcPct val="143700"/>
              </a:lnSpc>
              <a:spcBef>
                <a:spcPts val="68"/>
              </a:spcBef>
              <a:buFont typeface="Symbol"/>
              <a:buChar char=""/>
              <a:tabLst>
                <a:tab pos="180975" algn="l"/>
              </a:tabLst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centralized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storage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alert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logs</a:t>
            </a:r>
            <a:r>
              <a:rPr sz="1100" spc="1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monitoring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8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safety</a:t>
            </a:r>
            <a:r>
              <a:rPr sz="1100" spc="1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trends.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9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modular</a:t>
            </a:r>
            <a:r>
              <a:rPr sz="1100" spc="12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12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127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7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7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3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expected</a:t>
            </a:r>
            <a:r>
              <a:rPr sz="1100" spc="13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3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2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127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27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sensors,</a:t>
            </a:r>
            <a:r>
              <a:rPr sz="1100" spc="127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alert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rules,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1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analytics </a:t>
            </a:r>
            <a:r>
              <a:rPr sz="1100" dirty="0">
                <a:latin typeface="Times New Roman"/>
                <a:cs typeface="Times New Roman"/>
              </a:rPr>
              <a:t>components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project.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Overall,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proposed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aims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11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safety,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11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14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13" dirty="0">
                <a:latin typeface="Times New Roman"/>
                <a:cs typeface="Times New Roman"/>
              </a:rPr>
              <a:t> </a:t>
            </a:r>
            <a:r>
              <a:rPr sz="1100" spc="-19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hazards,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-1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IoT</a:t>
            </a:r>
            <a:r>
              <a:rPr sz="1100" spc="-23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safety</a:t>
            </a:r>
            <a:r>
              <a:rPr sz="1100" spc="-26" dirty="0">
                <a:latin typeface="Times New Roman"/>
                <a:cs typeface="Times New Roman"/>
              </a:rPr>
              <a:t> </a:t>
            </a:r>
            <a:r>
              <a:rPr sz="1100" spc="-8" dirty="0">
                <a:latin typeface="Times New Roman"/>
                <a:cs typeface="Times New Roman"/>
              </a:rPr>
              <a:t>systems.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29971" y="4281583"/>
            <a:ext cx="667702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1</a:t>
            </a:r>
            <a:r>
              <a:rPr lang="en-IN" sz="675" dirty="0">
                <a:solidFill>
                  <a:srgbClr val="878787"/>
                </a:solidFill>
                <a:latin typeface="Calibri"/>
                <a:cs typeface="Calibri"/>
              </a:rPr>
              <a:t>6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December</a:t>
            </a:r>
            <a:r>
              <a:rPr sz="675" spc="8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15" dirty="0">
                <a:solidFill>
                  <a:srgbClr val="878787"/>
                </a:solidFill>
                <a:latin typeface="Calibri"/>
                <a:cs typeface="Calibri"/>
              </a:rPr>
              <a:t>2025</a:t>
            </a:r>
            <a:endParaRPr sz="67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615" y="4281583"/>
            <a:ext cx="81962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716"/>
              </a:lnSpc>
            </a:pP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CYB23IN301</a:t>
            </a:r>
            <a:r>
              <a:rPr sz="675" spc="-3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8" dirty="0">
                <a:solidFill>
                  <a:srgbClr val="878787"/>
                </a:solidFill>
                <a:latin typeface="Calibri"/>
                <a:cs typeface="Calibri"/>
              </a:rPr>
              <a:t>REVIEW</a:t>
            </a:r>
            <a:r>
              <a:rPr sz="675" spc="-23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dirty="0">
                <a:solidFill>
                  <a:srgbClr val="878787"/>
                </a:solidFill>
                <a:latin typeface="Calibri"/>
                <a:cs typeface="Calibri"/>
              </a:rPr>
              <a:t>-</a:t>
            </a:r>
            <a:r>
              <a:rPr sz="675" spc="-4" dirty="0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sz="675" spc="-38" dirty="0">
                <a:solidFill>
                  <a:srgbClr val="878787"/>
                </a:solidFill>
                <a:latin typeface="Calibri"/>
                <a:cs typeface="Calibri"/>
              </a:rPr>
              <a:t>I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203060" y="4281583"/>
            <a:ext cx="149066" cy="90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ts val="716"/>
              </a:lnSpc>
            </a:pPr>
            <a:r>
              <a:rPr spc="-19" dirty="0"/>
              <a:t>1</a:t>
            </a:r>
            <a:r>
              <a:rPr lang="en-IN" spc="-19" dirty="0"/>
              <a:t>2</a:t>
            </a:r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7083" y="361950"/>
            <a:ext cx="15620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algn="ctr">
              <a:spcBef>
                <a:spcPts val="79"/>
              </a:spcBef>
            </a:pPr>
            <a:r>
              <a:rPr sz="1800" spc="-8" dirty="0"/>
              <a:t>REFERENCES</a:t>
            </a:r>
            <a:endParaRPr sz="1800" dirty="0"/>
          </a:p>
        </p:txBody>
      </p:sp>
      <p:sp>
        <p:nvSpPr>
          <p:cNvPr id="3" name="object 3"/>
          <p:cNvSpPr txBox="1"/>
          <p:nvPr/>
        </p:nvSpPr>
        <p:spPr>
          <a:xfrm>
            <a:off x="287273" y="771699"/>
            <a:ext cx="6280309" cy="305144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50483" marR="3810">
              <a:spcBef>
                <a:spcPts val="79"/>
              </a:spcBef>
            </a:pPr>
            <a:endParaRPr sz="900" dirty="0">
              <a:latin typeface="Times New Roman"/>
              <a:cs typeface="Times New Roman"/>
            </a:endParaRPr>
          </a:p>
          <a:p>
            <a:r>
              <a:rPr lang="en-IN" sz="900" dirty="0"/>
              <a:t>[1] L. Da Xu, W. He, and S. Li, “Internet of Things in industries: A survey,” </a:t>
            </a:r>
            <a:r>
              <a:rPr lang="en-IN" sz="900" i="1" dirty="0"/>
              <a:t>IEEE Transactions on Industrial Informatics</a:t>
            </a:r>
            <a:r>
              <a:rPr lang="en-IN" sz="900" dirty="0"/>
              <a:t>, vol. 10, no. 4, pp. 2233–2243, Nov. 2014.</a:t>
            </a:r>
          </a:p>
          <a:p>
            <a:r>
              <a:rPr lang="en-IN" sz="900" dirty="0"/>
              <a:t>[2] A. Al-Fuqaha, M. </a:t>
            </a:r>
            <a:r>
              <a:rPr lang="en-IN" sz="900" dirty="0" err="1"/>
              <a:t>Guizani</a:t>
            </a:r>
            <a:r>
              <a:rPr lang="en-IN" sz="900" dirty="0"/>
              <a:t>, M. Mohammadi, M. </a:t>
            </a:r>
            <a:r>
              <a:rPr lang="en-IN" sz="900" dirty="0" err="1"/>
              <a:t>Aledhari</a:t>
            </a:r>
            <a:r>
              <a:rPr lang="en-IN" sz="900" dirty="0"/>
              <a:t>, and M. Ayyash, “Internet of Things: A survey on enabling technologies, protocols, and applications,” </a:t>
            </a:r>
            <a:r>
              <a:rPr lang="en-IN" sz="900" i="1" dirty="0"/>
              <a:t>IEEE Communications Surveys &amp; Tutorials</a:t>
            </a:r>
            <a:r>
              <a:rPr lang="en-IN" sz="900" dirty="0"/>
              <a:t>, vol. 17, no. 4, pp. 2347–2376, Fourth Quarter 2015.</a:t>
            </a:r>
          </a:p>
          <a:p>
            <a:r>
              <a:rPr lang="en-IN" sz="900" dirty="0"/>
              <a:t>[3] J. Gubbi, R. </a:t>
            </a:r>
            <a:r>
              <a:rPr lang="en-IN" sz="900" dirty="0" err="1"/>
              <a:t>Buyya</a:t>
            </a:r>
            <a:r>
              <a:rPr lang="en-IN" sz="900" dirty="0"/>
              <a:t>, S. Marusic, and M. </a:t>
            </a:r>
            <a:r>
              <a:rPr lang="en-IN" sz="900" dirty="0" err="1"/>
              <a:t>Palaniswami</a:t>
            </a:r>
            <a:r>
              <a:rPr lang="en-IN" sz="900" dirty="0"/>
              <a:t>, “Internet of Things (IoT): A vision, architectural elements, and future directions,” </a:t>
            </a:r>
            <a:r>
              <a:rPr lang="en-IN" sz="900" i="1" dirty="0"/>
              <a:t>Future Generation Computer Systems</a:t>
            </a:r>
            <a:r>
              <a:rPr lang="en-IN" sz="900" dirty="0"/>
              <a:t>, vol. 29, no. 7, pp. 1645–1660, Sept. 2013.</a:t>
            </a:r>
          </a:p>
          <a:p>
            <a:r>
              <a:rPr lang="en-IN" sz="900" dirty="0"/>
              <a:t>[4] S. Sicari, A. Rizzardi, L. Grieco, and A. Coen-</a:t>
            </a:r>
            <a:r>
              <a:rPr lang="en-IN" sz="900" dirty="0" err="1"/>
              <a:t>Porisini</a:t>
            </a:r>
            <a:r>
              <a:rPr lang="en-IN" sz="900" dirty="0"/>
              <a:t>, “Security, privacy and trust in Internet of Things: The road ahead,” </a:t>
            </a:r>
            <a:r>
              <a:rPr lang="en-IN" sz="900" i="1" dirty="0"/>
              <a:t>Computer Networks</a:t>
            </a:r>
            <a:r>
              <a:rPr lang="en-IN" sz="900" dirty="0"/>
              <a:t>, vol. 76, no. 1, pp. 146–164, Jan. 2015.</a:t>
            </a:r>
          </a:p>
          <a:p>
            <a:r>
              <a:rPr lang="en-IN" sz="900" dirty="0"/>
              <a:t>[5] M. Aazam and E.-N. Huh, “Fog computing and smart gateway based communication for cloud of things,” </a:t>
            </a:r>
            <a:r>
              <a:rPr lang="en-IN" sz="900" i="1" dirty="0"/>
              <a:t>Future Generation Computer Systems</a:t>
            </a:r>
            <a:r>
              <a:rPr lang="en-IN" sz="900" dirty="0"/>
              <a:t>, vol. 97, no. 1, pp. 628–639, Aug. 2019.</a:t>
            </a:r>
          </a:p>
          <a:p>
            <a:r>
              <a:rPr lang="en-IN" sz="900" dirty="0"/>
              <a:t>[6] P. P. Ray, “A survey on Internet of Things architectures,” </a:t>
            </a:r>
            <a:r>
              <a:rPr lang="en-IN" sz="900" i="1" dirty="0"/>
              <a:t>Journal of King Saud University – Computer and Information Sciences</a:t>
            </a:r>
            <a:r>
              <a:rPr lang="en-IN" sz="900" dirty="0"/>
              <a:t>, vol. 30, no. 3, pp. 291–319, July 2018.</a:t>
            </a:r>
          </a:p>
          <a:p>
            <a:r>
              <a:rPr lang="en-IN" sz="900" dirty="0"/>
              <a:t>[7] K. Ashton, “That ‘Internet of Things’ thing,” </a:t>
            </a:r>
            <a:r>
              <a:rPr lang="en-IN" sz="900" i="1" dirty="0"/>
              <a:t>RFID Journal</a:t>
            </a:r>
            <a:r>
              <a:rPr lang="en-IN" sz="900" dirty="0"/>
              <a:t>, vol. 22, no. 7, pp. 97–114, June 2009.</a:t>
            </a:r>
          </a:p>
          <a:p>
            <a:r>
              <a:rPr lang="en-IN" sz="900" dirty="0"/>
              <a:t>[8] M. Chiang and T. Zhang, “Fog and IoT: An overview of research opportunities,” </a:t>
            </a:r>
            <a:r>
              <a:rPr lang="en-IN" sz="900" i="1" dirty="0"/>
              <a:t>IEEE Internet of Things Journal</a:t>
            </a:r>
            <a:r>
              <a:rPr lang="en-IN" sz="900" dirty="0"/>
              <a:t>, vol. 3, no. 6, pp. 854–864, Dec. 2016.</a:t>
            </a:r>
          </a:p>
          <a:p>
            <a:r>
              <a:rPr lang="en-IN" sz="900" dirty="0"/>
              <a:t>[9] A. Zanella, N. Bui, A. Castellani, L. </a:t>
            </a:r>
            <a:r>
              <a:rPr lang="en-IN" sz="900" dirty="0" err="1"/>
              <a:t>Vangelista</a:t>
            </a:r>
            <a:r>
              <a:rPr lang="en-IN" sz="900" dirty="0"/>
              <a:t>, and M. Zorzi, “Internet of Things for smart cities,” </a:t>
            </a:r>
            <a:r>
              <a:rPr lang="en-IN" sz="900" i="1" dirty="0"/>
              <a:t>IEEE Internet of Things Journal</a:t>
            </a:r>
            <a:r>
              <a:rPr lang="en-IN" sz="900" dirty="0"/>
              <a:t>, vol. 1, no. 1, pp. 22–32, Feb. 2014.</a:t>
            </a:r>
          </a:p>
          <a:p>
            <a:r>
              <a:rPr lang="en-IN" sz="900" dirty="0"/>
              <a:t>[10] Y. Chen, S. Deng, H. Ma, and J. Yin, “Deploying data-intensive applications with multiple services on edge,” </a:t>
            </a:r>
            <a:r>
              <a:rPr lang="en-IN" sz="900" i="1" dirty="0"/>
              <a:t>IEEE Internet of Things Journal</a:t>
            </a:r>
            <a:r>
              <a:rPr lang="en-IN" sz="900" dirty="0"/>
              <a:t>, vol. 5, no. 3, pp. 2169–2182, June 2018.</a:t>
            </a:r>
          </a:p>
          <a:p>
            <a:pPr marL="9525">
              <a:lnSpc>
                <a:spcPts val="1076"/>
              </a:lnSpc>
            </a:pPr>
            <a:endParaRPr sz="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5270" y="2042064"/>
            <a:ext cx="1594009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700" dirty="0">
                <a:solidFill>
                  <a:srgbClr val="1F3862"/>
                </a:solidFill>
              </a:rPr>
              <a:t>Thank</a:t>
            </a:r>
            <a:r>
              <a:rPr sz="2700" spc="-90" dirty="0">
                <a:solidFill>
                  <a:srgbClr val="1F3862"/>
                </a:solidFill>
              </a:rPr>
              <a:t> </a:t>
            </a:r>
            <a:r>
              <a:rPr sz="2700" spc="-19" dirty="0">
                <a:solidFill>
                  <a:srgbClr val="1F3862"/>
                </a:solidFill>
              </a:rPr>
              <a:t>you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1632</Words>
  <Application>Microsoft Office PowerPoint</Application>
  <PresentationFormat>Custom</PresentationFormat>
  <Paragraphs>240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Symbol</vt:lpstr>
      <vt:lpstr>Times New Roman</vt:lpstr>
      <vt:lpstr>Office Theme</vt:lpstr>
      <vt:lpstr>IoT-Ready Industrial Safety Layer</vt:lpstr>
      <vt:lpstr>INTRODUCTION</vt:lpstr>
      <vt:lpstr>Challenges to be addressed</vt:lpstr>
      <vt:lpstr>REVIEW OF LITERATURE</vt:lpstr>
      <vt:lpstr>REVIEW OF LITERATURE</vt:lpstr>
      <vt:lpstr>REVIEW OF EXISTING SYSTEM</vt:lpstr>
      <vt:lpstr>PROBLEM STATEMENT</vt:lpstr>
      <vt:lpstr>OBJECTIVES</vt:lpstr>
      <vt:lpstr>WORKFLOWDIAGRAM</vt:lpstr>
      <vt:lpstr>MODULES</vt:lpstr>
      <vt:lpstr>TENTATIVE RESULTS/ EXPECTED OUTCOME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Navadeep KM</cp:lastModifiedBy>
  <cp:revision>1</cp:revision>
  <dcterms:created xsi:type="dcterms:W3CDTF">2025-12-16T02:46:31Z</dcterms:created>
  <dcterms:modified xsi:type="dcterms:W3CDTF">2025-12-16T05:44:53Z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2025-12-16T00:00:00Z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2025-12-16T00:00:00Z</vt:filetime>
  </property>
  <property fmtid="{D5CDD505-2E9C-101B-9397-08002B2CF9AE}" pid="5" name="Producer">
    <vt:lpwstr>Microsoft® Word 2021</vt:lpwstr>
  </property>
</Properties>
</file>